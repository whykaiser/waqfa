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7bf89139048b3" /><Relationship Type="http://schemas.openxmlformats.org/officeDocument/2006/relationships/extended-properties" Target="/docProps/app.xml" Id="R8fc67d2308f541d4" /><Relationship Type="http://schemas.openxmlformats.org/officeDocument/2006/relationships/officeDocument" Target="/ppt/presentation.xml" Id="Rf9f9b338d34d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8f240258347e3"/>
  </p:sldMasterIdLst>
  <p:notesMasterIdLst>
    <p:notesMasterId xmlns:r="http://schemas.openxmlformats.org/officeDocument/2006/relationships" r:id="R92de7dc4a1c242bf"/>
  </p:notesMasterIdLst>
  <p:sldIdLst>
    <p:sldId xmlns:r="http://schemas.openxmlformats.org/officeDocument/2006/relationships" id="256" r:id="Rf9514787100b458f"/>
    <p:sldId xmlns:r="http://schemas.openxmlformats.org/officeDocument/2006/relationships" id="257" r:id="Re6b70711c0fd4a14"/>
    <p:sldId xmlns:r="http://schemas.openxmlformats.org/officeDocument/2006/relationships" id="258" r:id="R9f053715ce4f4cc4"/>
    <p:sldId xmlns:r="http://schemas.openxmlformats.org/officeDocument/2006/relationships" id="259" r:id="R6833cce77a29426f"/>
    <p:sldId xmlns:r="http://schemas.openxmlformats.org/officeDocument/2006/relationships" id="260" r:id="Rf9698a0fede84e19"/>
    <p:sldId xmlns:r="http://schemas.openxmlformats.org/officeDocument/2006/relationships" id="261" r:id="Rb24f4fe662624584"/>
    <p:sldId xmlns:r="http://schemas.openxmlformats.org/officeDocument/2006/relationships" id="262" r:id="Rc055413882a44317"/>
    <p:sldId xmlns:r="http://schemas.openxmlformats.org/officeDocument/2006/relationships" id="263" r:id="Rbcf191b0c97f4e21"/>
    <p:sldId xmlns:r="http://schemas.openxmlformats.org/officeDocument/2006/relationships" id="264" r:id="R3f893c865341493c"/>
    <p:sldId xmlns:r="http://schemas.openxmlformats.org/officeDocument/2006/relationships" id="265" r:id="Rc188defd02fa4f78"/>
    <p:sldId xmlns:r="http://schemas.openxmlformats.org/officeDocument/2006/relationships" id="266" r:id="R0d9873fbd42b48a8"/>
    <p:sldId xmlns:r="http://schemas.openxmlformats.org/officeDocument/2006/relationships" id="267" r:id="Raf2ee93e628e48d3"/>
    <p:sldId xmlns:r="http://schemas.openxmlformats.org/officeDocument/2006/relationships" id="268" r:id="R748d759feffe44e9"/>
    <p:sldId xmlns:r="http://schemas.openxmlformats.org/officeDocument/2006/relationships" id="269" r:id="Rb5a6eaebe22547ce"/>
    <p:sldId xmlns:r="http://schemas.openxmlformats.org/officeDocument/2006/relationships" id="270" r:id="Rb9f27b53a8ca481c"/>
    <p:sldId xmlns:r="http://schemas.openxmlformats.org/officeDocument/2006/relationships" id="271" r:id="Rc5a2d00cd5de4dbf"/>
    <p:sldId xmlns:r="http://schemas.openxmlformats.org/officeDocument/2006/relationships" id="272" r:id="Rdef51b2c2c2641e8"/>
    <p:sldId xmlns:r="http://schemas.openxmlformats.org/officeDocument/2006/relationships" id="273" r:id="Rb2f500478dfc4c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fe10a8fd341c2" /><Relationship Type="http://schemas.openxmlformats.org/officeDocument/2006/relationships/slideMaster" Target="/ppt/slideMasters/slideMaster1.xml" Id="R00d8f240258347e3" /><Relationship Type="http://schemas.openxmlformats.org/officeDocument/2006/relationships/notesMaster" Target="/ppt/notesMasters/notesMaster1.xml" Id="R92de7dc4a1c242bf" /><Relationship Type="http://schemas.openxmlformats.org/officeDocument/2006/relationships/presProps" Target="/ppt/presProps.xml" Id="R933d1a7b57ae4e27" /><Relationship Type="http://schemas.openxmlformats.org/officeDocument/2006/relationships/tableStyles" Target="/ppt/tableStyles.xml" Id="Rd228104809f74f23" /><Relationship Type="http://schemas.openxmlformats.org/officeDocument/2006/relationships/slide" Target="/ppt/slides/slide1.xml" Id="Rf9514787100b458f" /><Relationship Type="http://schemas.openxmlformats.org/officeDocument/2006/relationships/slide" Target="/ppt/slides/slide2.xml" Id="Re6b70711c0fd4a14" /><Relationship Type="http://schemas.openxmlformats.org/officeDocument/2006/relationships/slide" Target="/ppt/slides/slide3.xml" Id="R9f053715ce4f4cc4" /><Relationship Type="http://schemas.openxmlformats.org/officeDocument/2006/relationships/slide" Target="/ppt/slides/slide4.xml" Id="R6833cce77a29426f" /><Relationship Type="http://schemas.openxmlformats.org/officeDocument/2006/relationships/slide" Target="/ppt/slides/slide5.xml" Id="Rf9698a0fede84e19" /><Relationship Type="http://schemas.openxmlformats.org/officeDocument/2006/relationships/slide" Target="/ppt/slides/slide6.xml" Id="Rb24f4fe662624584" /><Relationship Type="http://schemas.openxmlformats.org/officeDocument/2006/relationships/slide" Target="/ppt/slides/slide7.xml" Id="Rc055413882a44317" /><Relationship Type="http://schemas.openxmlformats.org/officeDocument/2006/relationships/slide" Target="/ppt/slides/slide8.xml" Id="Rbcf191b0c97f4e21" /><Relationship Type="http://schemas.openxmlformats.org/officeDocument/2006/relationships/slide" Target="/ppt/slides/slide9.xml" Id="R3f893c865341493c" /><Relationship Type="http://schemas.openxmlformats.org/officeDocument/2006/relationships/slide" Target="/ppt/slides/slide10.xml" Id="Rc188defd02fa4f78" /><Relationship Type="http://schemas.openxmlformats.org/officeDocument/2006/relationships/slide" Target="/ppt/slides/slide11.xml" Id="R0d9873fbd42b48a8" /><Relationship Type="http://schemas.openxmlformats.org/officeDocument/2006/relationships/slide" Target="/ppt/slides/slide12.xml" Id="Raf2ee93e628e48d3" /><Relationship Type="http://schemas.openxmlformats.org/officeDocument/2006/relationships/slide" Target="/ppt/slides/slide13.xml" Id="R748d759feffe44e9" /><Relationship Type="http://schemas.openxmlformats.org/officeDocument/2006/relationships/slide" Target="/ppt/slides/slide14.xml" Id="Rb5a6eaebe22547ce" /><Relationship Type="http://schemas.openxmlformats.org/officeDocument/2006/relationships/slide" Target="/ppt/slides/slide15.xml" Id="Rb9f27b53a8ca481c" /><Relationship Type="http://schemas.openxmlformats.org/officeDocument/2006/relationships/slide" Target="/ppt/slides/slide16.xml" Id="Rc5a2d00cd5de4dbf" /><Relationship Type="http://schemas.openxmlformats.org/officeDocument/2006/relationships/slide" Target="/ppt/slides/slide17.xml" Id="Rdef51b2c2c2641e8" /><Relationship Type="http://schemas.openxmlformats.org/officeDocument/2006/relationships/slide" Target="/ppt/slides/slide18.xml" Id="Rb2f500478dfc4c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bc15db609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6d5326c3694256" /><Relationship Type="http://schemas.openxmlformats.org/officeDocument/2006/relationships/notesMaster" Target="/ppt/notesMasters/notesMaster1.xml" Id="R324124d0c8cd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b7334045e47b0" /><Relationship Type="http://schemas.openxmlformats.org/officeDocument/2006/relationships/notesMaster" Target="/ppt/notesMasters/notesMaster1.xml" Id="Ra330f730741242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ddd0bf35d4036" /><Relationship Type="http://schemas.openxmlformats.org/officeDocument/2006/relationships/notesMaster" Target="/ppt/notesMasters/notesMaster1.xml" Id="R2683238cece0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0735d5d4404f49" /><Relationship Type="http://schemas.openxmlformats.org/officeDocument/2006/relationships/notesMaster" Target="/ppt/notesMasters/notesMaster1.xml" Id="R99d6eae84fbd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9532f4bab4e4d" /><Relationship Type="http://schemas.openxmlformats.org/officeDocument/2006/relationships/notesMaster" Target="/ppt/notesMasters/notesMaster1.xml" Id="Rfc8512430ac34f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c58931ce14dc8" /><Relationship Type="http://schemas.openxmlformats.org/officeDocument/2006/relationships/notesMaster" Target="/ppt/notesMasters/notesMaster1.xml" Id="R17733c95943f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4a6d5861f54ff3" /><Relationship Type="http://schemas.openxmlformats.org/officeDocument/2006/relationships/notesMaster" Target="/ppt/notesMasters/notesMaster1.xml" Id="R058bd5e2fbc94b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e5a79ac48947ed" /><Relationship Type="http://schemas.openxmlformats.org/officeDocument/2006/relationships/notesMaster" Target="/ppt/notesMasters/notesMaster1.xml" Id="R9682a284a16a46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4306bd9654e69" /><Relationship Type="http://schemas.openxmlformats.org/officeDocument/2006/relationships/notesMaster" Target="/ppt/notesMasters/notesMaster1.xml" Id="R41c4d2ed2f214b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79f46151e14ea0" /><Relationship Type="http://schemas.openxmlformats.org/officeDocument/2006/relationships/notesMaster" Target="/ppt/notesMasters/notesMaster1.xml" Id="Ra30da0a5e24e44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d4b63a71e450c" /><Relationship Type="http://schemas.openxmlformats.org/officeDocument/2006/relationships/notesMaster" Target="/ppt/notesMasters/notesMaster1.xml" Id="R88d87043412f4f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b6fd76814a46ba" /><Relationship Type="http://schemas.openxmlformats.org/officeDocument/2006/relationships/notesMaster" Target="/ppt/notesMasters/notesMaster1.xml" Id="R8b7fee55689c49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b0373511e640c9" /><Relationship Type="http://schemas.openxmlformats.org/officeDocument/2006/relationships/notesMaster" Target="/ppt/notesMasters/notesMaster1.xml" Id="R73eb0728f13346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22565a22fb4bb8" /><Relationship Type="http://schemas.openxmlformats.org/officeDocument/2006/relationships/notesMaster" Target="/ppt/notesMasters/notesMaster1.xml" Id="R3ca5d3d7ff8a41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2223be6d9d4503" /><Relationship Type="http://schemas.openxmlformats.org/officeDocument/2006/relationships/notesMaster" Target="/ppt/notesMasters/notesMaster1.xml" Id="Rd48161fd0cbc4e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422bc14b094437" /><Relationship Type="http://schemas.openxmlformats.org/officeDocument/2006/relationships/notesMaster" Target="/ppt/notesMasters/notesMaster1.xml" Id="R6f6bd07342294d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f5cfeb05d345f2" /><Relationship Type="http://schemas.openxmlformats.org/officeDocument/2006/relationships/notesMaster" Target="/ppt/notesMasters/notesMaster1.xml" Id="R23e7522cfb854c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430562890a4c3a" /><Relationship Type="http://schemas.openxmlformats.org/officeDocument/2006/relationships/notesMaster" Target="/ppt/notesMasters/notesMaster1.xml" Id="Rad3e774ce1d544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ابدأ بالمشكلة لا بالميزات: وقفة يتدخل قبل قرار الشراء، في اللحظة التي ما زال القرار فيها قابلًا للتغيير.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قل: المشكلة ليست أن المستخدم لا يعرف مصروفاته؛ المشكلة أنه يعرف الأثر متأخرًا، بعد أن يصبح القسط التزامًا.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اشرح موضع المنتج: داخل لحظة الشراء أو التقسيط، قبل التأكيد. لا ندعي ربطًا حيًا الآن؛ هذه رحلة نموذج أولي قابلة للدمج.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تسرد الميزات. اقرأ التسلسل: ماذا سيحدث، متى، لماذا، أصغر حل، ثم خطة قابلة للتنفيذ.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أهم إجابة تقنية: لا نطلب من LLM أن يخترع رقمًا ماليًا. المحركات تحسب، وAI يشرح فقط، ويمكن تبديل المزود.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في سيناريو سارة: 54 يصبح 86. 55 من 72 مسارًا تدخل تحت الاحتياطي ثلاث أيام متتالية؛ الوسيط اليوم 23. هذا تعريف منتج وقائي لا تعثر مصرفي.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المحرك جرّب خفض القسط والتأجيل وحماية الصرف. وجد 160 ريالًا مع حماية 300 شهريًا؛ المؤشر 54 والاحتمال 6%، مع خمسة أيام هشّة متجنبة.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انتقل للتطبيق: اضغط تحميل سارة، حلّل محليًا، ثم وقفة قبل تدفع. توقف فقط على 54→86، اليوم 23، والتدخل. لا تفتح الكاميرا أو AI السحابي.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كن شفافًا: الاستدعاء 100% داخل عينة اصطناعية لكنه جاء مع 52.83% إنذارات زائدة. هذا يثبت قابلية الاختبار ويحدد عمل المعايرة، لا دقة مصرفية.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الاستدامة ليست إعلان اشتراك فردي؛ هي B2B2C. نقيس تغير القرار أولًا في Pilot محكوم، ثم نحدد تسعير التكامل والترخيص من بيانات فعلية.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اختم بهذه الجملة: وقفة لا ينتظر الدين ليعالجه؛ يتدخل قبل أن يصبح القرار عبئًا. ثم اطلب Pilot مصرفيًا محكومًا.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لقطات فعلية من بناء الويب المطابق للكود، وليست mockups. المسار الأساسي يعمل محليًا.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إذا سألوا عن الخطة: هدف 6000 في 90 يومًا غير آمن. المحرك يمدده إلى 450 يومًا مع 400 شهريًا و50 يوميًا واحتياطي 800.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ندعي جاهزية إنتاجية. المفتاح في تطبيق العميل مناسب للعرض فقط؛ الإنتاج يحتاج backend proxy، تشفيرًا، وموافقات وتكاملًا مرخصًا.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المصفوفة: 47 صحيح موجب، 28 إنذار زائد، صفر فائت، 25 صحيح سالب. نكشف كل الحالات في هذه العينة، لكن نحتاج معايرة لتقليل الإنذارات.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تقل الأول عالميًا. قل: منتجات عالمية تتنبأ بالتدفق أو تدير الالتزامات؛ أصالة وقفة في تركيب موعد السقوط والتدخل والتعافي داخل لحظة شراء عربية.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التركيز قرار مقصود: أجلنا ميزات تحتاج بيانات حقيقية أو بنية أعمق. الآن نثبت الرحلة؛ في Pilot نعاير؛ وبعد الإثبات نتكامل ونتوسع.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هذه شريحة احتياطية. أجب باختصار: الخلاصة، الدليل، الحد، ثم خطوة التحقق. لا تتجاوز الادعاءات المكتوبة.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3ad3a4b8646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dc3bd9cd147b4" /><Relationship Type="http://schemas.openxmlformats.org/officeDocument/2006/relationships/slideLayout" Target="/ppt/slideLayouts/slideLayout1.xml" Id="R729012d52c00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012d52c00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6159513c4e64" /><Relationship Type="http://schemas.openxmlformats.org/officeDocument/2006/relationships/image" Target="/ppt/media/image.png" Id="R7a50a1b38b0d403e" /><Relationship Type="http://schemas.openxmlformats.org/officeDocument/2006/relationships/notesSlide" Target="/ppt/notesSlides/notesSlide1.xml" Id="R44ffc55e7ed14e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4b114d2424872" /><Relationship Type="http://schemas.openxmlformats.org/officeDocument/2006/relationships/notesSlide" Target="/ppt/notesSlides/notesSlide2.xml" Id="Rb4f310165cea45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81cac88b04538" /><Relationship Type="http://schemas.openxmlformats.org/officeDocument/2006/relationships/notesSlide" Target="/ppt/notesSlides/notesSlide3.xml" Id="Rc337ac1cab64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c81b3b5f4b76" /><Relationship Type="http://schemas.openxmlformats.org/officeDocument/2006/relationships/notesSlide" Target="/ppt/notesSlides/notesSlide4.xml" Id="R838331583c7e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64cf3bf8f45b2" /><Relationship Type="http://schemas.openxmlformats.org/officeDocument/2006/relationships/notesSlide" Target="/ppt/notesSlides/notesSlide5.xml" Id="Rc7059ad4dc7c42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d307d4484b64" /><Relationship Type="http://schemas.openxmlformats.org/officeDocument/2006/relationships/notesSlide" Target="/ppt/notesSlides/notesSlide6.xml" Id="Ra60529388656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6e67360034481" /><Relationship Type="http://schemas.openxmlformats.org/officeDocument/2006/relationships/notesSlide" Target="/ppt/notesSlides/notesSlide7.xml" Id="R9fffc243e51447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1823efcc7447b" /><Relationship Type="http://schemas.openxmlformats.org/officeDocument/2006/relationships/image" Target="/ppt/media/image.jpeg" Id="Re8af19398bb049ff" /><Relationship Type="http://schemas.openxmlformats.org/officeDocument/2006/relationships/notesSlide" Target="/ppt/notesSlides/notesSlide8.xml" Id="R3a303035c4e049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2528a0894917" /><Relationship Type="http://schemas.openxmlformats.org/officeDocument/2006/relationships/notesSlide" Target="/ppt/notesSlides/notesSlide9.xml" Id="Re550abed11ef4f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884bb00954bb9" /><Relationship Type="http://schemas.openxmlformats.org/officeDocument/2006/relationships/notesSlide" Target="/ppt/notesSlides/notesSlide10.xml" Id="R58ad5214ade746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2c02439d24104" /><Relationship Type="http://schemas.openxmlformats.org/officeDocument/2006/relationships/notesSlide" Target="/ppt/notesSlides/notesSlide11.xml" Id="R223462e69ec443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953edcba54c8b" /><Relationship Type="http://schemas.openxmlformats.org/officeDocument/2006/relationships/image" Target="/ppt/media/image2.jpeg" Id="Rb643c2c1f57b4978" /><Relationship Type="http://schemas.openxmlformats.org/officeDocument/2006/relationships/image" Target="/ppt/media/image3.jpeg" Id="Rb8afb5db4a4e49f8" /><Relationship Type="http://schemas.openxmlformats.org/officeDocument/2006/relationships/image" Target="/ppt/media/image4.jpeg" Id="R22d9ea8ba2da445f" /><Relationship Type="http://schemas.openxmlformats.org/officeDocument/2006/relationships/notesSlide" Target="/ppt/notesSlides/notesSlide12.xml" Id="R96379a8e4ea446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99e4e43f40ba" /><Relationship Type="http://schemas.openxmlformats.org/officeDocument/2006/relationships/notesSlide" Target="/ppt/notesSlides/notesSlide13.xml" Id="R34333acd8c7c4c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70e335f5246ca" /><Relationship Type="http://schemas.openxmlformats.org/officeDocument/2006/relationships/notesSlide" Target="/ppt/notesSlides/notesSlide14.xml" Id="R91f5cf37f8304e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5022d140746e9" /><Relationship Type="http://schemas.openxmlformats.org/officeDocument/2006/relationships/notesSlide" Target="/ppt/notesSlides/notesSlide15.xml" Id="Ra3dd3af36ece4c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e4079ad24cd5" /><Relationship Type="http://schemas.openxmlformats.org/officeDocument/2006/relationships/notesSlide" Target="/ppt/notesSlides/notesSlide16.xml" Id="R9d684744f5664f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af6eafb864052" /><Relationship Type="http://schemas.openxmlformats.org/officeDocument/2006/relationships/notesSlide" Target="/ppt/notesSlides/notesSlide17.xml" Id="R035d4bfe37414d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8b40e8bbe454c" /><Relationship Type="http://schemas.openxmlformats.org/officeDocument/2006/relationships/notesSlide" Target="/ppt/notesSlides/notesSlide18.xml" Id="R8d38959f68374c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6D4EE-4BD6-4805-ADE3-48607A1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C9A8-727D-43E8-9604-2D7C028E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92339-4F4F-478B-AAF1-3B8A4B6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47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0a1b38b0d403e"/>
          <a:stretch xmlns:a="http://schemas.openxmlformats.org/drawingml/2006/main"/>
        </p:blipFill>
        <p:spPr>
          <a:xfrm xmlns:a="http://schemas.openxmlformats.org/drawingml/2006/main">
            <a:off x="8401050" y="1428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A56F8-9278-48A2-92CC-05021AA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800" b="1" i="0">
                <a:solidFill>
                  <a:srgbClr val="F2EFE9"/>
                </a:solidFill>
              </a:defRPr>
            </a:pPr>
            <a:r>
              <a:rPr sz="4800" b="1" i="0">
                <a:solidFill>
                  <a:srgbClr val="F2EFE9"/>
                </a:solidFill>
              </a:rPr>
              <a:t>‏وقفة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D25AF-1CC2-4662-8ADB-1F68D36D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48CAE4"/>
                </a:solidFill>
              </a:defRPr>
            </a:pPr>
            <a:r>
              <a:rPr sz="2250" b="1" i="0">
                <a:solidFill>
                  <a:srgbClr val="48CAE4"/>
                </a:solidFill>
              </a:rPr>
              <a:t>‏جدار حماية للقرار المالي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69A69-280E-401E-A275-AEE67A8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B9C5D2"/>
                </a:solidFill>
              </a:defRPr>
            </a:pPr>
            <a:r>
              <a:rPr sz="1650" b="0" i="0">
                <a:solidFill>
                  <a:srgbClr val="B9C5D2"/>
                </a:solidFill>
              </a:rPr>
              <a:t>‏يرى أثر القسط قبل أن يتحول إلى عبء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2742-243A-4853-8C36-F67CBDFB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C66E4E"/>
                </a:solidFill>
              </a:defRPr>
            </a:pPr>
            <a:r>
              <a:rPr sz="1200" b="1" i="0">
                <a:solidFill>
                  <a:srgbClr val="C66E4E"/>
                </a:solidFill>
              </a:rPr>
              <a:t>‏المسار: الذكاء الاصطناعي المالي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0C3B1-ED9D-491D-AF7A-A692E629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08196"/>
                </a:solidFill>
              </a:defRPr>
            </a:pPr>
            <a:r>
              <a:rPr sz="1200" b="0" i="0">
                <a:solidFill>
                  <a:srgbClr val="708196"/>
                </a:solidFill>
              </a:rPr>
              <a:t>‏هاكاثون أمد 2026</a:t>
            </a:r>
          </a:p>
        </p:txBody>
      </p:sp>
    </p:spTree>
    <p:extLst>
      <p:ext uri="{BB962C8B-B14F-4D97-AF65-F5344CB8AC3E}">
        <p14:creationId xmlns:p14="http://schemas.microsoft.com/office/powerpoint/2010/main" val="1918621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F7EA1-7827-4B64-AB94-53993E87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FA3A-2C3B-4789-8547-9CAFCEBF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‏القسط الصغير قد يصنع أسبوعًا كبيرًا من الضغط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115B-CC9C-43C5-89B4-710177A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A4ECB-9337-49AB-896F-5EF2D1A1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D946E-B3E8-4454-99E3-02C5208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F2EFE9"/>
                </a:solidFill>
              </a:defRPr>
            </a:pPr>
            <a:r>
              <a:rPr sz="2250" b="1" i="0">
                <a:solidFill>
                  <a:srgbClr val="F2EFE9"/>
                </a:solidFill>
              </a:rPr>
              <a:t>‏المستخدم يرى 640 ريالًا… ولا يرى اصطدامها بباقي الشهر.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85B58-1D9C-4092-8FD6-BA08EB2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E3650-2A72-42B8-93E3-76251553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1A7FF-1AA9-4E5E-B396-145E7BD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EFE9"/>
                </a:solidFill>
              </a:defRPr>
            </a:pPr>
            <a:r>
              <a:rPr sz="1350" b="1" i="0">
                <a:solidFill>
                  <a:srgbClr val="F2EFE9"/>
                </a:solidFill>
              </a:rPr>
              <a:t>‏راتب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09549-1733-4F9C-AE9E-F7D37E4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051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708196"/>
                </a:solidFill>
              </a:defRPr>
            </a:pPr>
            <a:r>
              <a:rPr sz="255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A2A1B-5BA5-4B71-B5F5-0120BBB4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0C36E-D6B7-4265-9ED3-25C16C4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FFE2C-3AFC-408F-9783-87DD01E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EFE9"/>
                </a:solidFill>
              </a:defRPr>
            </a:pPr>
            <a:r>
              <a:rPr sz="1350" b="1" i="0">
                <a:solidFill>
                  <a:srgbClr val="F2EFE9"/>
                </a:solidFill>
              </a:rPr>
              <a:t>‏إيجار وفواتير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F4542-D892-440F-9ED8-8615799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708196"/>
                </a:solidFill>
              </a:defRPr>
            </a:pPr>
            <a:r>
              <a:rPr sz="255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F30D5-455D-4F6C-BCBA-B7CB907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579B5-54DB-4325-AA10-1FDA16D6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B1D0-D9CB-4EF1-A152-C3D596E9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10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EFE9"/>
                </a:solidFill>
              </a:defRPr>
            </a:pPr>
            <a:r>
              <a:rPr sz="1350" b="1" i="0">
                <a:solidFill>
                  <a:srgbClr val="F2EFE9"/>
                </a:solidFill>
              </a:rPr>
              <a:t>‏أقساط قائمة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6A564-1B12-4327-A3A2-D4511F4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708196"/>
                </a:solidFill>
              </a:defRPr>
            </a:pPr>
            <a:r>
              <a:rPr sz="255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4D6A6-0AB4-4F26-B1DA-B005A689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E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0749B-ED38-4E23-8198-A315CEF9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86EC5-877F-4AA5-8F74-7C1A0376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0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EFE9"/>
                </a:solidFill>
              </a:defRPr>
            </a:pPr>
            <a:r>
              <a:rPr sz="1350" b="1" i="0">
                <a:solidFill>
                  <a:srgbClr val="F2EFE9"/>
                </a:solidFill>
              </a:rPr>
              <a:t>‏قسط جديد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6A1CB-49FF-420D-B8F4-32DC771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DDDF6-704F-427B-9682-EA4F244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7A23B"/>
                </a:solidFill>
              </a:defRPr>
            </a:pPr>
            <a:r>
              <a:rPr sz="1800" b="1" i="0">
                <a:solidFill>
                  <a:srgbClr val="E7A23B"/>
                </a:solidFill>
              </a:rPr>
              <a:t>‏المشكلة ليست السعر وحده؛ بل التوقيت + التراكم + غياب نافذة تدخل قبل الدفع.</a:t>
            </a:r>
          </a:p>
        </p:txBody>
      </p:sp>
    </p:spTree>
    <p:extLst>
      <p:ext uri="{BB962C8B-B14F-4D97-AF65-F5344CB8AC3E}">
        <p14:creationId xmlns:p14="http://schemas.microsoft.com/office/powerpoint/2010/main" val="94097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C7CB2-36BF-4DB6-BBB2-A55A5368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B2905-3F92-464A-B381-56E25C3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‏نافذة الوقاية موجودة قبل زر التأكيد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F8DEF-919D-4AED-A39C-9BDF107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E9EF1-461C-4837-B0FB-89DF43A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08157-F0E5-40C9-BB72-26ECCE8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D2F74-9188-4116-96E9-D5CCB94E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A2EB4-38BB-4684-AA21-3414DF9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28CD5-45F3-4C57-8B51-6BDD581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‏نية شراء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DA94A-6048-473A-8B73-2081F50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72DF8-54FA-4534-BAA6-196A25B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812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22CFC-1D5C-42AB-8692-384C9DB4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‏محاكاة وقفة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CBF3C-49DB-4367-A542-8563F474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2D38E-8CF7-4690-92C3-0B691F1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0D945-B313-4C13-B887-82AFD69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62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‏أقل تدخل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6DAB5-1C34-4C85-AC9D-0235D0E8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E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AC5DA-FD9F-478B-9A4A-720A3475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812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C3130-738F-4285-949C-DCE3595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62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‏تأكيد القرار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B1D9A-DD4B-4DB8-8DF2-131E702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71875"/>
            <a:ext cx="5391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C13D1-ED21-4DE3-AF4D-592C7BE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81425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EFE9"/>
                </a:solidFill>
              </a:defRPr>
            </a:pPr>
            <a:r>
              <a:rPr sz="1950" b="1" i="0">
                <a:solidFill>
                  <a:srgbClr val="F2EFE9"/>
                </a:solidFill>
              </a:rPr>
              <a:t>‏وقفة لا يمنع الشراء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AF6CF-6AF6-467F-A5CB-851531C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5767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48CAE4"/>
                </a:solidFill>
              </a:defRPr>
            </a:pPr>
            <a:r>
              <a:rPr sz="1575" b="0" i="0">
                <a:solidFill>
                  <a:srgbClr val="48CAE4"/>
                </a:solidFill>
              </a:rPr>
              <a:t>‏يجعل أثره مرئيًا قبل أن يصعب التراجع</a:t>
            </a:r>
          </a:p>
        </p:txBody>
      </p:sp>
    </p:spTree>
    <p:extLst>
      <p:ext uri="{BB962C8B-B14F-4D97-AF65-F5344CB8AC3E}">
        <p14:creationId xmlns:p14="http://schemas.microsoft.com/office/powerpoint/2010/main" val="659345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9EDC4-056C-40B1-8906-788AA2B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4E1EF-E84F-452A-B746-7615E0B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‏وقفة يحول القرار إلى خمس إجابات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74562-1786-402F-BEF4-18A3126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136BD-3865-4E07-B73E-2A5F5742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95EA3-F2A6-4F08-ADD1-2E4C8113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9334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2832-B146-44D6-88E9-06BAD4B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48CAE4"/>
                </a:solidFill>
              </a:defRPr>
            </a:pPr>
            <a:r>
              <a:rPr sz="1650" b="1" i="0">
                <a:solidFill>
                  <a:srgbClr val="48CAE4"/>
                </a:solidFill>
              </a:rPr>
              <a:t>‏ماذا؟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B28A-B1D5-4992-8C53-58D6D335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2EFE9"/>
                </a:solidFill>
              </a:defRPr>
            </a:pPr>
            <a:r>
              <a:rPr sz="1575" b="0" i="0">
                <a:solidFill>
                  <a:srgbClr val="F2EFE9"/>
                </a:solidFill>
              </a:rPr>
              <a:t>‏قرار قسط محدد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80798-120F-4246-9695-4EFAD7B2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9334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F58E7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07334-BC98-4D19-91F0-0369734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58E7C"/>
                </a:solidFill>
              </a:defRPr>
            </a:pPr>
            <a:r>
              <a:rPr sz="1650" b="1" i="0">
                <a:solidFill>
                  <a:srgbClr val="F58E7C"/>
                </a:solidFill>
              </a:rPr>
              <a:t>‏متى؟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F181C-7F96-45F5-BDC0-24BD67A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2EFE9"/>
                </a:solidFill>
              </a:defRPr>
            </a:pPr>
            <a:r>
              <a:rPr sz="1575" b="0" i="0">
                <a:solidFill>
                  <a:srgbClr val="F2EFE9"/>
                </a:solidFill>
              </a:rPr>
              <a:t>‏نافذة السقوط المالي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7BEA4-2009-425A-954B-37820F3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9334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8B84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F1157-6374-43C5-AC88-F7C75E0D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8B84D7"/>
                </a:solidFill>
              </a:defRPr>
            </a:pPr>
            <a:r>
              <a:rPr sz="1650" b="1" i="0">
                <a:solidFill>
                  <a:srgbClr val="8B84D7"/>
                </a:solidFill>
              </a:rPr>
              <a:t>‏لماذا؟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3CBA4-E51A-4B78-92D7-E022CF0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042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2EFE9"/>
                </a:solidFill>
              </a:defRPr>
            </a:pPr>
            <a:r>
              <a:rPr sz="1575" b="0" i="0">
                <a:solidFill>
                  <a:srgbClr val="F2EFE9"/>
                </a:solidFill>
              </a:rPr>
              <a:t>‏عوامل وتوقيت واضح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8CDF1-2217-440D-B138-3CAA1DB5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9334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38E65-E850-4FC0-94FB-047319C5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C66E4E"/>
                </a:solidFill>
              </a:defRPr>
            </a:pPr>
            <a:r>
              <a:rPr sz="1650" b="1" i="0">
                <a:solidFill>
                  <a:srgbClr val="C66E4E"/>
                </a:solidFill>
              </a:rPr>
              <a:t>‏ما الحل؟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FB731-9DDB-4181-A501-EF85F128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2EFE9"/>
                </a:solidFill>
              </a:defRPr>
            </a:pPr>
            <a:r>
              <a:rPr sz="1575" b="0" i="0">
                <a:solidFill>
                  <a:srgbClr val="F2EFE9"/>
                </a:solidFill>
              </a:rPr>
              <a:t>‏أقل تدخل منقذ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8699C-FF4C-4516-9F0D-79CF742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38725"/>
            <a:ext cx="9334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997E7-DA59-4274-8357-7EA075D2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339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22C55E"/>
                </a:solidFill>
              </a:defRPr>
            </a:pPr>
            <a:r>
              <a:rPr sz="1650" b="1" i="0">
                <a:solidFill>
                  <a:srgbClr val="22C55E"/>
                </a:solidFill>
              </a:rPr>
              <a:t>‏ثم ماذا؟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B17D8-3305-45BE-A213-509426A0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3397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2EFE9"/>
                </a:solidFill>
              </a:defRPr>
            </a:pPr>
            <a:r>
              <a:rPr sz="1575" b="0" i="0">
                <a:solidFill>
                  <a:srgbClr val="F2EFE9"/>
                </a:solidFill>
              </a:rPr>
              <a:t>‏خطة + سجل أثر</a:t>
            </a:r>
          </a:p>
        </p:txBody>
      </p:sp>
    </p:spTree>
    <p:extLst>
      <p:ext uri="{BB962C8B-B14F-4D97-AF65-F5344CB8AC3E}">
        <p14:creationId xmlns:p14="http://schemas.microsoft.com/office/powerpoint/2010/main" val="1193083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B454C-5115-4C15-81F7-B08DFEB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BDF2E-C8EF-4814-B6AA-9C2878BE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‏الحساب للمحركات… والشرح للذكاء الاصطناعي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A7BA6-2816-4C5F-A050-F0DB648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8FBA1-F704-42E9-BA2A-3E18CCEA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C8BDC-5463-4F6D-B6D0-8B8D0AE2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3FF9B-AA76-442B-839F-9E46B49C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48CAE4"/>
                </a:solidFill>
              </a:defRPr>
            </a:pPr>
            <a:r>
              <a:rPr sz="1725" b="1" i="0">
                <a:solidFill>
                  <a:srgbClr val="48CAE4"/>
                </a:solidFill>
              </a:rPr>
              <a:t>‏مدخلات مصرح بها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3F85E-E174-4A33-B49A-02E34140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‏دخل · مصروفات · أقساط · قرار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2532-7AF6-4059-8BF0-9A2C9AB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1009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5AD10-05BB-4D90-8656-40CE5A24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3B7CFF"/>
                </a:solidFill>
              </a:defRPr>
            </a:pPr>
            <a:r>
              <a:rPr sz="1725" b="1" i="0">
                <a:solidFill>
                  <a:srgbClr val="3B7CFF"/>
                </a:solidFill>
              </a:rPr>
              <a:t>‏محركات وقفة المحلية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C2DEA-E37B-422E-BEDF-5AFE2F31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‏درجة · تدفق يومي · 72 مسارًا · تدخل · خطة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8D398-F166-490C-B475-40644A4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09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8B84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1C3F2-A5C8-44E8-BEF2-39DFCD2E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8B84D7"/>
                </a:solidFill>
              </a:defRPr>
            </a:pPr>
            <a:r>
              <a:rPr sz="1725" b="1" i="0">
                <a:solidFill>
                  <a:srgbClr val="8B84D7"/>
                </a:solidFill>
              </a:rPr>
              <a:t>‏طبقة AI اختيارية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10607-A4C7-4980-A92F-41281DA1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‏صياغة عربية + قراءة فاتورة بموافقة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5245F-014E-4875-8F02-364B8CFC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2C55E"/>
                </a:solidFill>
              </a:defRPr>
            </a:pPr>
            <a:r>
              <a:rPr sz="1575" b="1" i="0">
                <a:solidFill>
                  <a:srgbClr val="22C55E"/>
                </a:solidFill>
              </a:rPr>
              <a:t>‏إذا تعطلت السحابة: الأرقام والقرار الأساسي يستمران محليًا</a:t>
            </a:r>
          </a:p>
        </p:txBody>
      </p:sp>
    </p:spTree>
    <p:extLst>
      <p:ext uri="{BB962C8B-B14F-4D97-AF65-F5344CB8AC3E}">
        <p14:creationId xmlns:p14="http://schemas.microsoft.com/office/powerpoint/2010/main" val="150460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AD069-09B2-4342-B610-2704FB1D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3AFF5-6521-42E3-BBD4-54AB2D09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‏من درجة جامدة إلى نافذة تدخل قابلة للحساب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8FE9A-4887-4CE7-A112-53F2120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8E557-0045-4334-B845-CD23F1C2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6BCB8-1F6F-4F91-89C2-18E78069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‏قبل القرار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B1126-BCF6-4BE6-A860-46CD031A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E7A23B"/>
                </a:solidFill>
              </a:defRPr>
            </a:pPr>
            <a:r>
              <a:rPr sz="2700" b="1" i="0">
                <a:solidFill>
                  <a:srgbClr val="E7A23B"/>
                </a:solidFill>
              </a:rPr>
              <a:t>‏54/100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DA9CD-CF6C-4C2C-96FA-F3AFA4C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‏وضع يحتاج وقفة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70EDE-C814-42E0-A271-9915F20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‏بعد قسط 640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E34E1-D773-40B5-8F99-460C08A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F58E7C"/>
                </a:solidFill>
              </a:defRPr>
            </a:pPr>
            <a:r>
              <a:rPr sz="2700" b="1" i="0">
                <a:solidFill>
                  <a:srgbClr val="F58E7C"/>
                </a:solidFill>
              </a:rPr>
              <a:t>‏86/100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D6D18-F3A3-4687-800D-270F3EB2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9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‏+32 نقطة خطر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28698-8746-404D-AA37-1974A077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‏نافذة السقوط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74804-7C04-4F84-ABCF-0EE29B5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C66E4E"/>
                </a:solidFill>
              </a:defRPr>
            </a:pPr>
            <a:r>
              <a:rPr sz="2700" b="1" i="0">
                <a:solidFill>
                  <a:srgbClr val="C66E4E"/>
                </a:solidFill>
              </a:rPr>
              <a:t>‏23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500D0-7618-4B1B-AF1A-017D40D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‏اليوم المرجّح · احتمال 76%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E6737-EB06-4AAA-AD4C-DE3AD5E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09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AB1FC-AB9E-4E40-A1A2-54C7F6E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2EFE9"/>
                </a:solidFill>
              </a:defRPr>
            </a:pPr>
            <a:r>
              <a:rPr sz="1650" b="1" i="0">
                <a:solidFill>
                  <a:srgbClr val="F2EFE9"/>
                </a:solidFill>
              </a:rPr>
              <a:t>‏تعريف وقائي واضح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C7833-9160-45BB-8F34-B66D760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148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CAE4"/>
                </a:solidFill>
              </a:defRPr>
            </a:pPr>
            <a:r>
              <a:rPr sz="1875" b="1" i="0">
                <a:solidFill>
                  <a:srgbClr val="48CAE4"/>
                </a:solidFill>
              </a:rPr>
              <a:t>‏البقاء تحت احتياطي الأمان 3 أيام متتالية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BF93E-7791-45FC-868A-A74DAA0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578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8196"/>
                </a:solidFill>
              </a:defRPr>
            </a:pPr>
            <a:r>
              <a:rPr sz="1275" b="0" i="0">
                <a:solidFill>
                  <a:srgbClr val="708196"/>
                </a:solidFill>
              </a:rPr>
              <a:t>‏احتمال محاكاة — ليس تعثرًا أو تقييمًا ائتمانيًا</a:t>
            </a:r>
          </a:p>
        </p:txBody>
      </p:sp>
    </p:spTree>
    <p:extLst>
      <p:ext uri="{BB962C8B-B14F-4D97-AF65-F5344CB8AC3E}">
        <p14:creationId xmlns:p14="http://schemas.microsoft.com/office/powerpoint/2010/main" val="798209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05277-E700-40BF-A5B4-522D5E2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3D1D3-DD92-4444-AFF9-5B16765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‏بدل «لا تشترِ»… ما أصغر تغيير يكفي؟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C5141-1F47-47A0-BF49-62EB810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FAE92-A33A-4F01-885C-61683E9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1E5AC-C111-408E-996C-7F32A9EB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F58E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32BA1-AA96-4A17-AE80-706294F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58E7C"/>
                </a:solidFill>
              </a:defRPr>
            </a:pPr>
            <a:r>
              <a:rPr sz="1575" b="1" i="0">
                <a:solidFill>
                  <a:srgbClr val="F58E7C"/>
                </a:solidFill>
              </a:rPr>
              <a:t>‏القرار الأصلي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EB90A-D185-4F89-834E-80AF803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2EFE9"/>
                </a:solidFill>
              </a:defRPr>
            </a:pPr>
            <a:r>
              <a:rPr sz="3600" b="1" i="0">
                <a:solidFill>
                  <a:srgbClr val="F2EFE9"/>
                </a:solidFill>
              </a:rPr>
              <a:t>640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B0E2-EFCC-45AB-91FD-651047E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C5D2"/>
                </a:solidFill>
              </a:defRPr>
            </a:pPr>
            <a:r>
              <a:rPr sz="1275" b="0" i="0">
                <a:solidFill>
                  <a:srgbClr val="B9C5D2"/>
                </a:solidFill>
              </a:rPr>
              <a:t>‏ريال/شهر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F0A3F-FC0D-4AF9-9EA5-A2D1F0F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8E7C"/>
                </a:solidFill>
              </a:defRPr>
            </a:pPr>
            <a:r>
              <a:rPr sz="1725" b="1" i="0">
                <a:solidFill>
                  <a:srgbClr val="F58E7C"/>
                </a:solidFill>
              </a:rPr>
              <a:t>86/100 · 76%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27A56-F6B5-48B7-B5AB-929D634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C66E4E"/>
                </a:solidFill>
              </a:defRPr>
            </a:pPr>
            <a:r>
              <a:rPr sz="3900" b="1" i="0">
                <a:solidFill>
                  <a:srgbClr val="C66E4E"/>
                </a:solidFill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1A2FA-CC6E-40C9-A39F-0010130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CC33A-F35E-4FDE-BEC6-A11CC9EE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66E4E"/>
                </a:solidFill>
              </a:defRPr>
            </a:pPr>
            <a:r>
              <a:rPr sz="1500" b="1" i="0">
                <a:solidFill>
                  <a:srgbClr val="C66E4E"/>
                </a:solidFill>
              </a:rPr>
              <a:t>‏أقل تدخل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E41D9-433F-428B-A35A-00E3CEE9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717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EFE9"/>
                </a:solidFill>
              </a:defRPr>
            </a:pPr>
            <a:r>
              <a:rPr sz="1650" b="1" i="0">
                <a:solidFill>
                  <a:srgbClr val="F2EFE9"/>
                </a:solidFill>
              </a:rPr>
              <a:t>‏خفض 480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2D205-E089-40DE-85F0-C8D6DEE6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09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48CAE4"/>
                </a:solidFill>
              </a:defRPr>
            </a:pPr>
            <a:r>
              <a:rPr sz="1575" b="0" i="0">
                <a:solidFill>
                  <a:srgbClr val="48CAE4"/>
                </a:solidFill>
              </a:rPr>
              <a:t>‏+ حماية 300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F24C1-8BB8-4B45-8938-A3636DC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22C55E"/>
                </a:solidFill>
              </a:defRPr>
            </a:pPr>
            <a:r>
              <a:rPr sz="3900" b="1" i="0">
                <a:solidFill>
                  <a:srgbClr val="22C55E"/>
                </a:solidFill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FA904-7E07-41E7-9443-929DA3E2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FDC49-A773-42B2-B805-8F9DCDB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2C55E"/>
                </a:solidFill>
              </a:defRPr>
            </a:pPr>
            <a:r>
              <a:rPr sz="1575" b="1" i="0">
                <a:solidFill>
                  <a:srgbClr val="22C55E"/>
                </a:solidFill>
              </a:rPr>
              <a:t>‏بعد التدخل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28B5A-3DC8-4CAA-98BD-9DD4E240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2EFE9"/>
                </a:solidFill>
              </a:defRPr>
            </a:pPr>
            <a:r>
              <a:rPr sz="3600" b="1" i="0">
                <a:solidFill>
                  <a:srgbClr val="F2EFE9"/>
                </a:solidFill>
              </a:rPr>
              <a:t>160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16EE9-CB5A-423E-8BD8-EB543175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19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C5D2"/>
                </a:solidFill>
              </a:defRPr>
            </a:pPr>
            <a:r>
              <a:rPr sz="1275" b="0" i="0">
                <a:solidFill>
                  <a:srgbClr val="B9C5D2"/>
                </a:solidFill>
              </a:rPr>
              <a:t>‏ريال/شهر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E36C9-B7E4-41ED-B5DE-DE3A691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67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2C55E"/>
                </a:solidFill>
              </a:defRPr>
            </a:pPr>
            <a:r>
              <a:rPr sz="1725" b="1" i="0">
                <a:solidFill>
                  <a:srgbClr val="22C55E"/>
                </a:solidFill>
              </a:rPr>
              <a:t>54/100 · 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D5542-B54D-40F7-A539-53783A8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CAE4"/>
                </a:solidFill>
              </a:defRPr>
            </a:pPr>
            <a:r>
              <a:rPr sz="1875" b="1" i="0">
                <a:solidFill>
                  <a:srgbClr val="48CAE4"/>
                </a:solidFill>
              </a:rPr>
              <a:t>‏5 أيام هشّة متجنبة · زمن التعافي 5 ← 0 أيام</a:t>
            </a:r>
          </a:p>
        </p:txBody>
      </p:sp>
    </p:spTree>
    <p:extLst>
      <p:ext uri="{BB962C8B-B14F-4D97-AF65-F5344CB8AC3E}">
        <p14:creationId xmlns:p14="http://schemas.microsoft.com/office/powerpoint/2010/main" val="1767932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606B1-AF6A-40B5-B6C9-3AD7FB37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0D97A-5F33-4C2F-8972-F860DBC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‏Demo: سارة تختبر القرار قبل الالتزام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7F863-5718-410F-A2FB-C7EFAFE1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EEDF-B49B-4381-ABEB-E8B659B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6E530-B0FD-40DF-AA76-485437FD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048500" cy="459105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f19398bb049ff"/>
          <a:stretch xmlns:a="http://schemas.openxmlformats.org/drawingml/2006/main"/>
        </p:blipFill>
        <p:spPr>
          <a:xfrm xmlns:a="http://schemas.openxmlformats.org/drawingml/2006/main">
            <a:off x="1327150" y="1638300"/>
            <a:ext cx="57658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45B3E-9428-498B-B972-FAE36B69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66E4E"/>
                </a:solidFill>
              </a:defRPr>
            </a:pPr>
            <a:r>
              <a:rPr sz="1275" b="1" i="0">
                <a:solidFill>
                  <a:srgbClr val="C66E4E"/>
                </a:solidFill>
              </a:rPr>
              <a:t>‏شخصية اصطناعية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DE6CC-EEE0-40CD-8B39-E76B506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2EFE9"/>
                </a:solidFill>
              </a:defRPr>
            </a:pPr>
            <a:r>
              <a:rPr sz="1875" b="1" i="0">
                <a:solidFill>
                  <a:srgbClr val="F2EFE9"/>
                </a:solidFill>
              </a:rPr>
              <a:t>‏8,000 دخل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A3600-F2DF-4261-9A35-9F51A4A8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2EFE9"/>
                </a:solidFill>
              </a:defRPr>
            </a:pPr>
            <a:r>
              <a:rPr sz="1875" b="1" i="0">
                <a:solidFill>
                  <a:srgbClr val="F2EFE9"/>
                </a:solidFill>
              </a:rPr>
              <a:t>‏3,500 ثابت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51417-D0C7-4A5A-A33F-9AA294C7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2EFE9"/>
                </a:solidFill>
              </a:defRPr>
            </a:pPr>
            <a:r>
              <a:rPr sz="1875" b="1" i="0">
                <a:solidFill>
                  <a:srgbClr val="F2EFE9"/>
                </a:solidFill>
              </a:rPr>
              <a:t>‏1,500 متغير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4E968-D71D-4D9D-93F6-8ACAAB30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2EFE9"/>
                </a:solidFill>
              </a:defRPr>
            </a:pPr>
            <a:r>
              <a:rPr sz="1875" b="1" i="0">
                <a:solidFill>
                  <a:srgbClr val="F2EFE9"/>
                </a:solidFill>
              </a:rPr>
              <a:t>‏1,800 أقساط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6774E-D598-4375-8094-530312A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F58E7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1E3D-88EF-44AF-A876-865CD6C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95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58E7C"/>
                </a:solidFill>
              </a:defRPr>
            </a:pPr>
            <a:r>
              <a:rPr sz="2250" b="1" i="0">
                <a:solidFill>
                  <a:srgbClr val="F58E7C"/>
                </a:solidFill>
              </a:rPr>
              <a:t>‏640 ريال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A87C1-1545-44F1-8FCD-A0068920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00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C5D2"/>
                </a:solidFill>
              </a:defRPr>
            </a:pPr>
            <a:r>
              <a:rPr sz="1275" b="0" i="0">
                <a:solidFill>
                  <a:srgbClr val="B9C5D2"/>
                </a:solidFill>
              </a:rPr>
              <a:t>‏قرار جديد قبل الدفع</a:t>
            </a:r>
          </a:p>
        </p:txBody>
      </p:sp>
    </p:spTree>
    <p:extLst>
      <p:ext uri="{BB962C8B-B14F-4D97-AF65-F5344CB8AC3E}">
        <p14:creationId xmlns:p14="http://schemas.microsoft.com/office/powerpoint/2010/main" val="345153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5F554-95AF-4F23-936A-4B571FD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B08F2-5E06-404F-88DA-785CBC4D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‏تحققنا من المنطق… ولم نسمّه دقة عملاء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6F72-DA57-42DE-BE36-B2D0CACF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36277-BDC8-4632-B5BD-EF364B2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C48D-2C47-433E-85A3-CD4FC296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‏سيناريو اصطناعي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708D4-AEF2-4D35-A811-554E7C3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F2EFE9"/>
                </a:solidFill>
              </a:defRPr>
            </a:pPr>
            <a:r>
              <a:rPr sz="2700" b="1" i="0">
                <a:solidFill>
                  <a:srgbClr val="F2EFE9"/>
                </a:solidFill>
              </a:rPr>
              <a:t>‏100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CD7E7-EF56-48CF-9382-19606FF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‏5 أنماط · seed ثابت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DF9E-E29C-42BD-AE6E-911B0DFD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‏الحالات المكتشفة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0F253-BCE6-4BE2-BDAB-40A4CC3F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22C55E"/>
                </a:solidFill>
              </a:defRPr>
            </a:pPr>
            <a:r>
              <a:rPr sz="2700" b="1" i="0">
                <a:solidFill>
                  <a:srgbClr val="22C55E"/>
                </a:solidFill>
              </a:rPr>
              <a:t>‏47/47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DD2D0-D2A2-4770-856E-DBB3E58D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‏داخل العينة فقط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2D48A-91AA-4D5F-9AF3-3BA6823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‏إنذارات زائدة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1860C-CB95-48BF-BC1F-91BF736C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E7A23B"/>
                </a:solidFill>
              </a:defRPr>
            </a:pPr>
            <a:r>
              <a:rPr sz="2700" b="1" i="0">
                <a:solidFill>
                  <a:srgbClr val="E7A23B"/>
                </a:solidFill>
              </a:rPr>
              <a:t>‏52.83%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1A2F0-61BF-4B28-8992-E27CAE19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‏سؤال معايرة للـPilot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BB66-B910-4325-8FE6-ED798EA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1009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DF427-33A8-4EF4-9378-C402743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2C55E"/>
                </a:solidFill>
              </a:defRPr>
            </a:pPr>
            <a:r>
              <a:rPr sz="1950" b="1" i="0">
                <a:solidFill>
                  <a:srgbClr val="22C55E"/>
                </a:solidFill>
              </a:rPr>
              <a:t>TP 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9E3DC-9766-488A-A067-73E956F9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86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E7A23B"/>
                </a:solidFill>
              </a:defRPr>
            </a:pPr>
            <a:r>
              <a:rPr sz="1950" b="1" i="0">
                <a:solidFill>
                  <a:srgbClr val="E7A23B"/>
                </a:solidFill>
              </a:rPr>
              <a:t>FP 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33DAA-7D36-4C64-857A-8E9187F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2C55E"/>
                </a:solidFill>
              </a:defRPr>
            </a:pPr>
            <a:r>
              <a:rPr sz="1950" b="1" i="0">
                <a:solidFill>
                  <a:srgbClr val="22C55E"/>
                </a:solidFill>
              </a:rPr>
              <a:t>FN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21A01-FFC2-44F0-B57F-EE1AFAB9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86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48CAE4"/>
                </a:solidFill>
              </a:defRPr>
            </a:pPr>
            <a:r>
              <a:rPr sz="1950" b="1" i="0">
                <a:solidFill>
                  <a:srgbClr val="48CAE4"/>
                </a:solidFill>
              </a:rPr>
              <a:t>TN 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FD8E2-3656-4DA2-96E8-B5F24952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B9C5D2"/>
                </a:solidFill>
              </a:defRPr>
            </a:pPr>
            <a:r>
              <a:rPr sz="1500" b="0" i="0">
                <a:solidFill>
                  <a:srgbClr val="B9C5D2"/>
                </a:solidFill>
              </a:rPr>
              <a:t>‏وسيط الإنذار 6 أيام · خفض المؤشر 13.11 نقطة · 17.02% نتائج حرجة متجنبة بالمحاكاة</a:t>
            </a:r>
          </a:p>
        </p:txBody>
      </p:sp>
    </p:spTree>
    <p:extLst>
      <p:ext uri="{BB962C8B-B14F-4D97-AF65-F5344CB8AC3E}">
        <p14:creationId xmlns:p14="http://schemas.microsoft.com/office/powerpoint/2010/main" val="1037564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D92F4-9BDF-400C-A78A-BE96B1F2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وقفة | أمد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5FF37-997F-4A38-8C3C-7A15933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‏القيمة تبدأ Pilot محكومًا… ثم تتوسع كطبقة قرار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6D07E-E5CE-4713-8F8D-7E76DBFA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74833-29FF-43CE-9545-ECCBD799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2E649-739B-43C8-AAB3-A810DC29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B0627-11DF-4738-8202-3804A4A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B7CFF"/>
                </a:solidFill>
              </a:defRPr>
            </a:pPr>
            <a:r>
              <a:rPr sz="2550" b="1" i="0">
                <a:solidFill>
                  <a:srgbClr val="3B7CFF"/>
                </a:solidFill>
              </a:rPr>
              <a:t>B2B2C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61484-F9B2-418F-A6B0-F3F963E3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‏المستخدم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ADECC-4E6F-4F90-930E-14E684C8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‏حماية داخل قناة البنك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D2983-230F-4F65-A5F3-4606F5A6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‏البنك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93817-618F-405F-A369-48C92CC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‏ترخيص + تكامل + استخدام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4EBD-C48A-47BE-B0B9-82D51722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EFE9"/>
                </a:solidFill>
              </a:defRPr>
            </a:pPr>
            <a:r>
              <a:rPr sz="1500" b="1" i="0">
                <a:solidFill>
                  <a:srgbClr val="F2EFE9"/>
                </a:solidFill>
              </a:rPr>
              <a:t>‏القيمة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CC2D7-1A68-44AE-A585-E98D0A28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‏تغير قرار وأثر قابل للقياس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F859A-2C10-4478-944D-907A74B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F75B4-8484-46F6-9580-2C3CE39C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66E4E"/>
                </a:solidFill>
              </a:defRPr>
            </a:pPr>
            <a:r>
              <a:rPr sz="2400" b="1" i="0">
                <a:solidFill>
                  <a:srgbClr val="C66E4E"/>
                </a:solidFill>
              </a:rPr>
              <a:t>‏Pilot مسؤول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A80B3-3108-4B0E-A809-51497C49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81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9F013-4D34-4F66-A057-C7A53EF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F2EFE9"/>
                </a:solidFill>
              </a:defRPr>
            </a:pPr>
            <a:r>
              <a:rPr sz="1350" b="0" i="0">
                <a:solidFill>
                  <a:srgbClr val="F2EFE9"/>
                </a:solidFill>
              </a:rPr>
              <a:t>‏500 عميل موافق · 8 أسابيع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4CBB6-8F4A-47D3-9A56-A33E9598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43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37EE2-117C-4C2A-97C3-EBC6234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480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F2EFE9"/>
                </a:solidFill>
              </a:defRPr>
            </a:pPr>
            <a:r>
              <a:rPr sz="1350" b="0" i="0">
                <a:solidFill>
                  <a:srgbClr val="F2EFE9"/>
                </a:solidFill>
              </a:rPr>
              <a:t>‏قياس تأجيل/خفض/إلغاء القرار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EF5C5-8B88-45E5-A406-710334B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C8357-D263-452E-A1C7-C9CAE3C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F2EFE9"/>
                </a:solidFill>
              </a:defRPr>
            </a:pPr>
            <a:r>
              <a:rPr sz="1350" b="0" i="0">
                <a:solidFill>
                  <a:srgbClr val="F2EFE9"/>
                </a:solidFill>
              </a:rPr>
              <a:t>‏معايرة الإنذارات والانحياز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7C909-1BF2-4490-8269-6E98E89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67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84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7DD17-614C-4D89-B64E-0A702F5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F2EFE9"/>
                </a:solidFill>
              </a:defRPr>
            </a:pPr>
            <a:r>
              <a:rPr sz="1350" b="0" i="0">
                <a:solidFill>
                  <a:srgbClr val="F2EFE9"/>
                </a:solidFill>
              </a:rPr>
              <a:t>‏Backend آمن وتكامل مرخص</a:t>
            </a:r>
          </a:p>
        </p:txBody>
      </p:sp>
    </p:spTree>
    <p:extLst>
      <p:ext uri="{BB962C8B-B14F-4D97-AF65-F5344CB8AC3E}">
        <p14:creationId xmlns:p14="http://schemas.microsoft.com/office/powerpoint/2010/main" val="49274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AB842-5714-49AD-B2F2-6AF7C89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3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0D01A-4A32-4865-BA02-832A4F9E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9F7CD-3F1E-40DF-B612-95D2FFBA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2EFE9"/>
                </a:solidFill>
              </a:defRPr>
            </a:pPr>
            <a:r>
              <a:rPr sz="4350" b="1" i="0">
                <a:solidFill>
                  <a:srgbClr val="F2EFE9"/>
                </a:solidFill>
              </a:rPr>
              <a:t>‏وقفة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5D3BF-766A-40DC-853C-3B979458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48CAE4"/>
                </a:solidFill>
              </a:defRPr>
            </a:pPr>
            <a:r>
              <a:rPr sz="2400" b="1" i="0">
                <a:solidFill>
                  <a:srgbClr val="48CAE4"/>
                </a:solidFill>
              </a:rPr>
              <a:t>‏لا ينتظر الدين ليعالجه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BFA67-16C7-49D5-A01E-6422942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66E4E"/>
                </a:solidFill>
              </a:defRPr>
            </a:pPr>
            <a:r>
              <a:rPr sz="2400" b="1" i="0">
                <a:solidFill>
                  <a:srgbClr val="C66E4E"/>
                </a:solidFill>
              </a:rPr>
              <a:t>‏يتدخل قبل أن يصبح القرار عبئًا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AF0B2-D3E4-426B-83CB-DC5DA473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23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0AE1F-28B6-403F-AFCE-7ED2037C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EFE9"/>
                </a:solidFill>
              </a:defRPr>
            </a:pPr>
            <a:r>
              <a:rPr sz="1800" b="1" i="0">
                <a:solidFill>
                  <a:srgbClr val="F2EFE9"/>
                </a:solidFill>
              </a:rPr>
              <a:t>‏طلبنا: Pilot مصرفي محكوم لقياس تغير القرار والمعايرة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1FBE8-8829-4F17-A288-901AD59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B9C5D2"/>
                </a:solidFill>
              </a:defRPr>
            </a:pPr>
            <a:r>
              <a:rPr sz="1425" b="0" i="0">
                <a:solidFill>
                  <a:srgbClr val="B9C5D2"/>
                </a:solidFill>
              </a:rPr>
              <a:t>‏المحركات تحسب · AI يشرح · المستخدم يقرر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74C97-D2D1-4924-8EF3-DF370733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791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94597-4F2F-4AA8-B16F-A50B96B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A3AA-704C-4B6B-AAC2-C4324A4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‏ملحق: رحلة المنتج المبنية فعليًا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1C146-C0B6-45D4-BDB0-E9C0FF59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35D4-560B-4E4D-86B6-F1F2F131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433F9-C553-4E76-BD5A-D8EB76D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3810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70819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3c2c1f57b4978"/>
          <a:stretch xmlns:a="http://schemas.openxmlformats.org/drawingml/2006/main"/>
        </p:blipFill>
        <p:spPr>
          <a:xfrm xmlns:a="http://schemas.openxmlformats.org/drawingml/2006/main">
            <a:off x="781050" y="1964531"/>
            <a:ext cx="3143250" cy="235743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6D59-B672-43D9-AE57-8DEA928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B7CFF"/>
                </a:solidFill>
              </a:defRPr>
            </a:pPr>
            <a:r>
              <a:rPr sz="1425" b="1" i="0">
                <a:solidFill>
                  <a:srgbClr val="3B7CFF"/>
                </a:solidFill>
              </a:rPr>
              <a:t>‏1 · بوابة الوقاية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9D7A8-B067-4FF5-B9EA-7008352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333750" cy="3810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70819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fb5db4a4e49f8"/>
          <a:stretch xmlns:a="http://schemas.openxmlformats.org/drawingml/2006/main"/>
        </p:blipFill>
        <p:spPr>
          <a:xfrm xmlns:a="http://schemas.openxmlformats.org/drawingml/2006/main">
            <a:off x="4457700" y="1964531"/>
            <a:ext cx="3143250" cy="235743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F8A2F-B3AC-4B90-BA36-3BF87969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66E4E"/>
                </a:solidFill>
              </a:defRPr>
            </a:pPr>
            <a:r>
              <a:rPr sz="1425" b="1" i="0">
                <a:solidFill>
                  <a:srgbClr val="C66E4E"/>
                </a:solidFill>
              </a:rPr>
              <a:t>‏2 · بيانات سارة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424A2-D7FC-44D0-9B2F-B4CE773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333750" cy="3810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70819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9ea8ba2da445f"/>
          <a:stretch xmlns:a="http://schemas.openxmlformats.org/drawingml/2006/main"/>
        </p:blipFill>
        <p:spPr>
          <a:xfrm xmlns:a="http://schemas.openxmlformats.org/drawingml/2006/main">
            <a:off x="8134350" y="1964531"/>
            <a:ext cx="3143250" cy="235743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9330C-3726-44A2-9918-4DA06CAB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2C55E"/>
                </a:solidFill>
              </a:defRPr>
            </a:pPr>
            <a:r>
              <a:rPr sz="1425" b="1" i="0">
                <a:solidFill>
                  <a:srgbClr val="22C55E"/>
                </a:solidFill>
              </a:rPr>
              <a:t>‏3 · نتيجة محلية</a:t>
            </a:r>
          </a:p>
        </p:txBody>
      </p:sp>
    </p:spTree>
    <p:extLst>
      <p:ext uri="{BB962C8B-B14F-4D97-AF65-F5344CB8AC3E}">
        <p14:creationId xmlns:p14="http://schemas.microsoft.com/office/powerpoint/2010/main" val="1711149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40069-6609-4353-A4C2-F129C38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4EC8D-A7B1-48A3-8AA4-83A49FB9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‏ملحق: خطة وقفة — الأرقام من المحرك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8C147-8ED2-4971-8F7A-62588463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B6267-7770-463A-8872-06239A17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74835-2617-4C24-B269-3CC32A2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‏هدف سفر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8F86C-D986-4A29-9F90-0FB603E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F2EFE9"/>
                </a:solidFill>
              </a:defRPr>
            </a:pPr>
            <a:r>
              <a:rPr sz="2700" b="1" i="0">
                <a:solidFill>
                  <a:srgbClr val="F2EFE9"/>
                </a:solidFill>
              </a:rPr>
              <a:t>‏6,000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60E17-C333-4138-95C1-430C6E18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‏ريال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CC32F-F79F-4133-B518-2973CE19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‏المدة المطلوبة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DD335-2D04-4866-8A29-2AE8EE8B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E7A23B"/>
                </a:solidFill>
              </a:defRPr>
            </a:pPr>
            <a:r>
              <a:rPr sz="2700" b="1" i="0">
                <a:solidFill>
                  <a:srgbClr val="E7A23B"/>
                </a:solidFill>
              </a:rPr>
              <a:t>‏90 يوم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31796-74E8-4946-82C7-DF29EE80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66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‏غير آمنة بهذا النمط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37ED-85AD-413C-94B6-50EF2F4D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9C5D2"/>
                </a:solidFill>
              </a:defRPr>
            </a:pPr>
            <a:r>
              <a:rPr sz="1050" b="1" i="0">
                <a:solidFill>
                  <a:srgbClr val="B9C5D2"/>
                </a:solidFill>
              </a:rPr>
              <a:t>‏المدة الآمنة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E5292-E63C-4111-B1F9-4D5EFBB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 i="0">
                <a:solidFill>
                  <a:srgbClr val="22C55E"/>
                </a:solidFill>
              </a:defRPr>
            </a:pPr>
            <a:r>
              <a:rPr sz="2700" b="1" i="0">
                <a:solidFill>
                  <a:srgbClr val="22C55E"/>
                </a:solidFill>
              </a:rPr>
              <a:t>‏450 يوم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26260-2081-47F0-B26B-CCD3B70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66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08196"/>
                </a:solidFill>
              </a:defRPr>
            </a:pPr>
            <a:r>
              <a:rPr sz="975" b="0" i="0">
                <a:solidFill>
                  <a:srgbClr val="708196"/>
                </a:solidFill>
              </a:rPr>
              <a:t>‏+360 يومًا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71C45-0A27-43DA-9DAC-B6F9C4A0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000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8B84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D8C77-DAB9-4DC6-A942-D426EEF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433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B7CFF"/>
                </a:solidFill>
              </a:defRPr>
            </a:pPr>
            <a:r>
              <a:rPr sz="2100" b="1" i="0">
                <a:solidFill>
                  <a:srgbClr val="3B7CFF"/>
                </a:solidFill>
              </a:rPr>
              <a:t>‏400 ريال شهريًا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27D55-0C88-4FAD-8BE1-58A6D9F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2C55E"/>
                </a:solidFill>
              </a:defRPr>
            </a:pPr>
            <a:r>
              <a:rPr sz="2100" b="1" i="0">
                <a:solidFill>
                  <a:srgbClr val="22C55E"/>
                </a:solidFill>
              </a:rPr>
              <a:t>‏50 ريال صرف يومي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FACCA-7B20-4A2D-840A-D7343CD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33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66E4E"/>
                </a:solidFill>
              </a:defRPr>
            </a:pPr>
            <a:r>
              <a:rPr sz="2100" b="1" i="0">
                <a:solidFill>
                  <a:srgbClr val="C66E4E"/>
                </a:solidFill>
              </a:rPr>
              <a:t>‏800 ريال احتياطي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AD0E1-DF08-4ED7-8F44-89E230D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57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‏65 · خطوة · أسبوعية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087DC-E675-4ED8-B9BD-A7FA2A9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57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8CAE4"/>
                </a:solidFill>
              </a:defRPr>
            </a:pPr>
            <a:r>
              <a:rPr sz="1350" b="0" i="0">
                <a:solidFill>
                  <a:srgbClr val="48CAE4"/>
                </a:solidFill>
              </a:rPr>
              <a:t>‏أرقام · من · المحرك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E0C7E-7961-472B-BBB6-B00D9080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‏AI · يشرح · فقط</a:t>
            </a:r>
          </a:p>
        </p:txBody>
      </p:sp>
    </p:spTree>
    <p:extLst>
      <p:ext uri="{BB962C8B-B14F-4D97-AF65-F5344CB8AC3E}">
        <p14:creationId xmlns:p14="http://schemas.microsoft.com/office/powerpoint/2010/main" val="2513454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B8D2E-94AE-419E-8BDA-E1295D5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67CBC-1BF7-4891-B7C3-76AA049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 · الخصوصية · قبل · الإنتاج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F15C9-1AC6-4394-8ACC-E0AE958D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0F9F6-7A16-4323-888E-44904EDF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54CB8-8AEA-42EE-A87E-361A8B6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A97FC-7D9B-40EC-9576-7CC0ABC6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57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2C55E"/>
                </a:solidFill>
              </a:defRPr>
            </a:pPr>
            <a:r>
              <a:rPr sz="2100" b="1" i="0">
                <a:solidFill>
                  <a:srgbClr val="22C55E"/>
                </a:solidFill>
              </a:rPr>
              <a:t>‏في النموذج الآن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2C49-8877-4D3C-A7D3-BA5F7A47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19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محركات · محلية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15AA8-AE43-407A-AA81-48BC8E5A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99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ملف · على · الجهاز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6719E-FC47-44B2-B8F0-0B280F0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سحابة · بموافقة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420D5-8362-42AE-816A-B33A9FA5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910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بيانات · تجريبية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D7B44-BFC0-4093-BE7C-FF0F443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F58E7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F7B0C-2D18-499B-8F07-16F948C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E7C"/>
                </a:solidFill>
              </a:defRPr>
            </a:pPr>
            <a:r>
              <a:rPr sz="2100" b="1" i="0">
                <a:solidFill>
                  <a:srgbClr val="F58E7C"/>
                </a:solidFill>
              </a:rPr>
              <a:t>‏قبل الإنتاج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9F80B-4B12-4FB6-AB7E-CF7EE10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خادم · أسرار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7D252-B8C8-401E-A591-2D2DD54C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099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تخزين · مشفّر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8D412-6562-4779-8B9B-2848557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00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ربط · مرخّص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ACBFA-2DF4-418A-B9A9-843F1586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‏• رصد · الانحياز</a:t>
            </a:r>
          </a:p>
        </p:txBody>
      </p:sp>
    </p:spTree>
    <p:extLst>
      <p:ext uri="{BB962C8B-B14F-4D97-AF65-F5344CB8AC3E}">
        <p14:creationId xmlns:p14="http://schemas.microsoft.com/office/powerpoint/2010/main" val="14160884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0FC3F-DF9E-4F10-8E34-A4BBFF7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5DF14-1F31-4E50-965A-5C43D6B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‏ملحق: مصفوفة التحقق الاصطناعي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C4A60-1305-4F90-B0D3-B5AFAF8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EA25C-4158-4041-9563-2962F7A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3F6F-CB09-4671-B214-D3BC202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C5D2"/>
                </a:solidFill>
              </a:defRPr>
            </a:pPr>
            <a:r>
              <a:rPr sz="1350" b="1" i="0">
                <a:solidFill>
                  <a:srgbClr val="B9C5D2"/>
                </a:solidFill>
              </a:rPr>
              <a:t>‏الحقيقة المرجعية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3BBE-FD07-46C9-85AE-3A7B999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EFE9"/>
                </a:solidFill>
              </a:defRPr>
            </a:pPr>
            <a:r>
              <a:rPr sz="1425" b="1" i="0">
                <a:solidFill>
                  <a:srgbClr val="F2EFE9"/>
                </a:solidFill>
              </a:rPr>
              <a:t>‏حرج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B2C9C-8DF5-4A11-87F6-A87A957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EFE9"/>
                </a:solidFill>
              </a:defRPr>
            </a:pPr>
            <a:r>
              <a:rPr sz="1425" b="1" i="0">
                <a:solidFill>
                  <a:srgbClr val="F2EFE9"/>
                </a:solidFill>
              </a:rPr>
              <a:t>‏غير حرج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4DAFB-FC08-4776-A4E6-667AA40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EFE9"/>
                </a:solidFill>
              </a:defRPr>
            </a:pPr>
            <a:r>
              <a:rPr sz="1425" b="1" i="0">
                <a:solidFill>
                  <a:srgbClr val="F2EFE9"/>
                </a:solidFill>
              </a:rPr>
              <a:t>‏تنبيه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D03D2-8D4A-4495-9BA1-DB40E2A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EFE9"/>
                </a:solidFill>
              </a:defRPr>
            </a:pPr>
            <a:r>
              <a:rPr sz="1425" b="1" i="0">
                <a:solidFill>
                  <a:srgbClr val="F2EFE9"/>
                </a:solidFill>
              </a:rPr>
              <a:t>‏لا تنبيه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B5409-05CD-4F6E-9600-034E1C2C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B7CB3-F5E4-47D8-9754-37B0A0E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TP 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15AE3-C3A7-4E73-8C96-F55FCA30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A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CC296-F3AE-4F39-B281-64D47E6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62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341"/>
                </a:solidFill>
              </a:defRPr>
            </a:pPr>
            <a:r>
              <a:rPr sz="2700" b="1" i="0">
                <a:solidFill>
                  <a:srgbClr val="0C2341"/>
                </a:solidFill>
              </a:rPr>
              <a:t>FP 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33716-64F5-4430-9DBC-CDD54176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9E3B9-1BAB-4C3C-98DD-6946478D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243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2C55E"/>
                </a:solidFill>
              </a:defRPr>
            </a:pPr>
            <a:r>
              <a:rPr sz="2700" b="1" i="0">
                <a:solidFill>
                  <a:srgbClr val="22C55E"/>
                </a:solidFill>
              </a:rPr>
              <a:t>FN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B8656-745B-4880-93CA-E3579187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F1C2E-DDF8-45DA-8C9D-86E3506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48CAE4"/>
                </a:solidFill>
              </a:defRPr>
            </a:pPr>
            <a:r>
              <a:rPr sz="2700" b="1" i="0">
                <a:solidFill>
                  <a:srgbClr val="48CAE4"/>
                </a:solidFill>
              </a:rPr>
              <a:t>TN 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82A2-3E77-42D7-9918-4D7D91E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8196"/>
                </a:solidFill>
              </a:defRPr>
            </a:pPr>
            <a:r>
              <a:rPr sz="1275" b="0" i="0">
                <a:solidFill>
                  <a:srgbClr val="708196"/>
                </a:solidFill>
              </a:rPr>
              <a:t>‏عتبة التنبيه 45/100 · 100 سيناريو اصطناعي</a:t>
            </a:r>
          </a:p>
        </p:txBody>
      </p:sp>
    </p:spTree>
    <p:extLst>
      <p:ext uri="{BB962C8B-B14F-4D97-AF65-F5344CB8AC3E}">
        <p14:creationId xmlns:p14="http://schemas.microsoft.com/office/powerpoint/2010/main" val="13477688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CE889-E4FC-410A-9EFA-DA9BF0C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41823-1A41-4A80-A063-3C80684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 · الأصالة · في · التركيب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F5F0D-FF3A-40AD-B34E-67F22A2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2C2BB-345B-4359-AAFB-D2DCCC28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5F0B1-73DB-4E88-8AB7-F64CA83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E45D5-8633-43AA-A44C-66502DF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95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48CAE4"/>
                </a:solidFill>
              </a:defRPr>
            </a:pPr>
            <a:r>
              <a:rPr sz="1575" b="1" i="0">
                <a:solidFill>
                  <a:srgbClr val="48CAE4"/>
                </a:solidFill>
              </a:rPr>
              <a:t>‏توقع · الرصيد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2CA1-60A7-492E-A1CF-B74346F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‏Monzo · Starling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640B5-0131-49D1-BE64-4A1352EC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52700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8B84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715F4-31F8-45B5-AF76-DB4ED11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765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8B84D7"/>
                </a:solidFill>
              </a:defRPr>
            </a:pPr>
            <a:r>
              <a:rPr sz="1575" b="1" i="0">
                <a:solidFill>
                  <a:srgbClr val="8B84D7"/>
                </a:solidFill>
              </a:rPr>
              <a:t>‏إدارة · الالتزامات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4A0E6-28B2-49A7-8C8A-35EB9FD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‏Rocket Money · YNAB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83C82-D8A2-4071-BC5E-68850F2B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34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BCD57-62D5-4777-8740-1BCB1669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22C55E"/>
                </a:solidFill>
              </a:defRPr>
            </a:pPr>
            <a:r>
              <a:rPr sz="1575" b="1" i="0">
                <a:solidFill>
                  <a:srgbClr val="22C55E"/>
                </a:solidFill>
              </a:rPr>
              <a:t>‏ادخار · آلي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F3100-8F23-4BBD-87BB-3893E104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57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‏Plum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62E48-28A7-47B6-B8BD-C8484D9F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019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AF32D-03BB-47E9-B14E-E08FF44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38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C66E4E"/>
                </a:solidFill>
              </a:defRPr>
            </a:pPr>
            <a:r>
              <a:rPr sz="1575" b="1" i="0">
                <a:solidFill>
                  <a:srgbClr val="C66E4E"/>
                </a:solidFill>
              </a:rPr>
              <a:t>‏رحلة · وقفة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62AF3-EB50-42A4-8208-23D2B04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‏قرار → يوم سقوط → أقل تدخل → تعافٍ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85F48-8355-4A54-ADE3-A7635C65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C5D2"/>
                </a:solidFill>
              </a:defRPr>
            </a:pPr>
            <a:r>
              <a:rPr sz="1275" b="0" i="0">
                <a:solidFill>
                  <a:srgbClr val="B9C5D2"/>
                </a:solidFill>
              </a:rPr>
              <a:t>‏تميّز · وقفة: لحظة · شراء · عربية · واحدة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2B5D0-77FB-4917-8B02-E6F2D70F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08196"/>
                </a:solidFill>
              </a:defRPr>
            </a:pPr>
            <a:r>
              <a:rPr sz="675" b="0" i="0">
                <a:solidFill>
                  <a:srgbClr val="708196"/>
                </a:solidFill>
              </a:rPr>
              <a:t>Sources: monzo.com/help · starlingbank.com/features · rocketmoney.com · ynab.com · withplum.com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A9587-6085-411A-9C6A-109E678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71996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D04B7-6889-4D50-957F-CE845ED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4C08C-6E1D-4942-8653-AAB39D0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 · خارطة · التوسع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1A0C3-C07D-4648-B57C-676C69D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07062-2887-4883-9D0F-F6B3BC09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B0F9F-46AB-4F66-9EF4-B5D34B7B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714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3B7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709A5-7029-489C-A088-0CFAF2A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B7CFF"/>
                </a:solidFill>
              </a:defRPr>
            </a:pPr>
            <a:r>
              <a:rPr sz="1275" b="1" i="0">
                <a:solidFill>
                  <a:srgbClr val="3B7CFF"/>
                </a:solidFill>
              </a:rPr>
              <a:t>‏الآن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0A917-16B7-4E57-89CB-CF5518B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EFE9"/>
                </a:solidFill>
              </a:defRPr>
            </a:pPr>
            <a:r>
              <a:rPr sz="2250" b="1" i="0">
                <a:solidFill>
                  <a:srgbClr val="F2EFE9"/>
                </a:solidFill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F9ABA-68C6-4A77-9BA7-2DF7BA7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290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‏محركات · اختبارات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CBBF1-60F6-4B49-9BC1-DD1F49A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708196"/>
                </a:solidFill>
              </a:defRPr>
            </a:pPr>
            <a:r>
              <a:rPr sz="21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C8FA6-7A79-4736-A6B4-3390F817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381250" cy="2714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3C76B-8DC6-4BD1-9866-1CCF75CF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66E4E"/>
                </a:solidFill>
              </a:defRPr>
            </a:pPr>
            <a:r>
              <a:rPr sz="1275" b="1" i="0">
                <a:solidFill>
                  <a:srgbClr val="C66E4E"/>
                </a:solidFill>
              </a:rPr>
              <a:t>‏8 أسابيع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57B21-6D34-465E-8240-7651FEF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14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EFE9"/>
                </a:solidFill>
              </a:defRPr>
            </a:pPr>
            <a:r>
              <a:rPr sz="2250" b="1" i="0">
                <a:solidFill>
                  <a:srgbClr val="F2EFE9"/>
                </a:solidFill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3019E-65E1-41D3-9717-1ED47F2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290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‏بيانات · معايرة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19B03-66F8-4854-9313-56168B1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708196"/>
                </a:solidFill>
              </a:defRPr>
            </a:pPr>
            <a:r>
              <a:rPr sz="21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1D67E-853E-40A2-8A88-8030A08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381250" cy="2714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8B84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74482-A59D-4DA6-8474-92D3E2DA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B84D7"/>
                </a:solidFill>
              </a:defRPr>
            </a:pPr>
            <a:r>
              <a:rPr sz="1275" b="1" i="0">
                <a:solidFill>
                  <a:srgbClr val="8B84D7"/>
                </a:solidFill>
              </a:rPr>
              <a:t>‏بعد الإثبات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DB43E-B1F9-43B5-ADBF-C1021CC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14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EFE9"/>
                </a:solidFill>
              </a:defRPr>
            </a:pPr>
            <a:r>
              <a:rPr sz="2250" b="1" i="0">
                <a:solidFill>
                  <a:srgbClr val="F2EFE9"/>
                </a:solidFill>
              </a:rPr>
              <a:t>Bank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91CA0-67FB-4FE6-ACA9-DEAADE3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290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‏Backend · مرخّص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0CEA5-83A0-47E6-8EF7-19432E0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708196"/>
                </a:solidFill>
              </a:defRPr>
            </a:pPr>
            <a:r>
              <a:rPr sz="21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B2F27-37B7-49A2-88EB-632E1E0A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381250" cy="2714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26A3F-9EA3-4310-9334-32EEA645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2C55E"/>
                </a:solidFill>
              </a:defRPr>
            </a:pPr>
            <a:r>
              <a:rPr sz="1275" b="1" i="0">
                <a:solidFill>
                  <a:srgbClr val="22C55E"/>
                </a:solidFill>
              </a:rPr>
              <a:t>‏التوسع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A4799-D803-49A6-8311-F94A71B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14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EFE9"/>
                </a:solidFill>
              </a:defRPr>
            </a:pPr>
            <a:r>
              <a:rPr sz="2250" b="1" i="0">
                <a:solidFill>
                  <a:srgbClr val="F2EFE9"/>
                </a:solidFill>
              </a:rPr>
              <a:t>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E6148-DC00-42E6-B9F2-6784197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290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5D2"/>
                </a:solidFill>
              </a:defRPr>
            </a:pPr>
            <a:r>
              <a:rPr sz="1350" b="0" i="0">
                <a:solidFill>
                  <a:srgbClr val="B9C5D2"/>
                </a:solidFill>
              </a:rPr>
              <a:t>‏قرارات · أكثر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62B70-454A-4A32-8C11-C7E8C31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8196"/>
                </a:solidFill>
              </a:defRPr>
            </a:pPr>
            <a:r>
              <a:rPr sz="1275" b="0" i="0">
                <a:solidFill>
                  <a:srgbClr val="708196"/>
                </a:solidFill>
              </a:rPr>
              <a:t>Pilot backlog · Shadow Trial · Behavioral fingerprint · Domino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3DE80-FE1D-4C1D-B55E-2ACD2DB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08196"/>
                </a:solidFill>
              </a:defRPr>
            </a:pPr>
            <a:r>
              <a:rPr sz="1275" b="0" i="0">
                <a:solidFill>
                  <a:srgbClr val="708196"/>
                </a:solidFill>
              </a:rPr>
              <a:t>Post-integration · Variable-income support</a:t>
            </a:r>
          </a:p>
        </p:txBody>
      </p:sp>
    </p:spTree>
    <p:extLst>
      <p:ext uri="{BB962C8B-B14F-4D97-AF65-F5344CB8AC3E}">
        <p14:creationId xmlns:p14="http://schemas.microsoft.com/office/powerpoint/2010/main" val="8435778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9CA14-D493-4E76-8599-BC2459E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6E4E"/>
                </a:solidFill>
              </a:defRPr>
            </a:pPr>
            <a:r>
              <a:rPr sz="1050" b="1" i="0">
                <a:solidFill>
                  <a:srgbClr val="C66E4E"/>
                </a:solidFill>
              </a:rPr>
              <a:t>ملحق الحكام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BB41E-5A22-48C9-BC49-D00FAAB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2EFE9"/>
                </a:solidFill>
              </a:defRPr>
            </a:pPr>
            <a:r>
              <a:rPr sz="2850" b="1" i="0">
                <a:solidFill>
                  <a:srgbClr val="F2EFE9"/>
                </a:solidFill>
              </a:rPr>
              <a:t>‏ملحق · أسئلة · الحكام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5E83B-318B-42FE-8E1B-FE9F6ED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D901C-1B4E-4C9A-9A74-514E6F9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08196"/>
                </a:solidFill>
              </a:defRPr>
            </a:pPr>
            <a:r>
              <a:rPr sz="900" b="0" i="0">
                <a:solidFill>
                  <a:srgbClr val="70819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BBCB6-A59B-4D3B-AF2D-19BE108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90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8B84D7"/>
                </a:solidFill>
              </a:defRPr>
            </a:pPr>
            <a:r>
              <a:rPr sz="1500" b="1" i="0">
                <a:solidFill>
                  <a:srgbClr val="8B84D7"/>
                </a:solidFill>
              </a:rPr>
              <a:t>‏AI · أين؟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69E7B-2E54-43F8-94BC-F53BBF9D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906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‏صياغة · فقط | الأرقام · من · المحرك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86E54-37C2-4CCF-8C24-8749DD76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A94AD-581B-4F16-9188-4FE2637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58E7C"/>
                </a:solidFill>
              </a:defRPr>
            </a:pPr>
            <a:r>
              <a:rPr sz="1500" b="1" i="0">
                <a:solidFill>
                  <a:srgbClr val="F58E7C"/>
                </a:solidFill>
              </a:rPr>
              <a:t>‏تقييم · ائتماني؟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4D988-0266-4AEA-B0F0-215D5BC5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‏لا | مؤشر · وقائي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8A27A-0BE5-45DB-AF8D-A0D0CFC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51C5E-6ED8-4823-A2ED-1F95C387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48CAE4"/>
                </a:solidFill>
              </a:defRPr>
            </a:pPr>
            <a:r>
              <a:rPr sz="1500" b="1" i="0">
                <a:solidFill>
                  <a:srgbClr val="48CAE4"/>
                </a:solidFill>
              </a:rPr>
              <a:t>‏الربط · حي؟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C81F5-2155-4B97-9D1A-D8D09AC0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‏لا | محاكاة · ثم · 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EFF79-220A-4EDF-8F73-9F590D76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E6395-CD35-4834-B4E1-3D2AB584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E7A23B"/>
                </a:solidFill>
              </a:defRPr>
            </a:pPr>
            <a:r>
              <a:rPr sz="1500" b="1" i="0">
                <a:solidFill>
                  <a:srgbClr val="E7A23B"/>
                </a:solidFill>
              </a:rPr>
              <a:t>‏خفض · التعثر؟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06593-C068-4FB0-A16D-77431BDC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‏لا | تحقق · اصطناعي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D055B-254D-4A22-8EEB-2F6D04A3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8A291-E390-4FB9-8FE0-9FF42E9F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577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2C55E"/>
                </a:solidFill>
              </a:defRPr>
            </a:pPr>
            <a:r>
              <a:rPr sz="1500" b="1" i="0">
                <a:solidFill>
                  <a:srgbClr val="22C55E"/>
                </a:solidFill>
              </a:rPr>
              <a:t>‏الدليل؟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BF5A7-5C74-4F4C-AFFF-2F79B62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77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F2EFE9"/>
                </a:solidFill>
              </a:defRPr>
            </a:pPr>
            <a:r>
              <a:rPr sz="1425" b="0" i="0">
                <a:solidFill>
                  <a:srgbClr val="F2EFE9"/>
                </a:solidFill>
              </a:rPr>
              <a:t>‏52 · اختبارًا | 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6B355-28FA-4507-BDB2-DE4D1748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911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1B507-3DAD-475D-8F6D-0176DDD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1476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A72FD-2119-4EA4-B96E-BA69C85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15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66E4E"/>
                </a:solidFill>
              </a:defRPr>
            </a:pPr>
            <a:r>
              <a:rPr sz="1200" b="1" i="0">
                <a:solidFill>
                  <a:srgbClr val="C66E4E"/>
                </a:solidFill>
              </a:rPr>
              <a:t>‏خلاصة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78707-CE00-4C7C-BB72-B343BCA2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08196"/>
                </a:solidFill>
              </a:defRPr>
            </a:pPr>
            <a:r>
              <a:rPr sz="15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5042C-DA2F-44BF-9772-36E006E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05500"/>
            <a:ext cx="1476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D8174-975B-4444-9B45-D495AD0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15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66E4E"/>
                </a:solidFill>
              </a:defRPr>
            </a:pPr>
            <a:r>
              <a:rPr sz="1200" b="1" i="0">
                <a:solidFill>
                  <a:srgbClr val="C66E4E"/>
                </a:solidFill>
              </a:rPr>
              <a:t>‏دليل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CD7A1-B876-433A-B6F7-FC1E1CE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08196"/>
                </a:solidFill>
              </a:defRPr>
            </a:pPr>
            <a:r>
              <a:rPr sz="15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6C801-D871-4819-9A22-6955198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1476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332D9-5B21-4994-B61B-DDE947E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15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66E4E"/>
                </a:solidFill>
              </a:defRPr>
            </a:pPr>
            <a:r>
              <a:rPr sz="1200" b="1" i="0">
                <a:solidFill>
                  <a:srgbClr val="C66E4E"/>
                </a:solidFill>
              </a:rPr>
              <a:t>‏حد · حالي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AC106-1120-4332-B76D-D8658D28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08196"/>
                </a:solidFill>
              </a:defRPr>
            </a:pPr>
            <a:r>
              <a:rPr sz="1500" b="0" i="0">
                <a:solidFill>
                  <a:srgbClr val="708196"/>
                </a:solidFill>
              </a:rPr>
              <a:t>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A3AB0-3CAB-46B6-AB01-DEC02913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05500"/>
            <a:ext cx="14763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02B4B"/>
          </a:solidFill>
          <a:ln xmlns:a="http://schemas.openxmlformats.org/drawingml/2006/main" w="9525">
            <a:solidFill>
              <a:srgbClr val="C66E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33211-63B9-4783-998B-D9B206B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150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66E4E"/>
                </a:solidFill>
              </a:defRPr>
            </a:pPr>
            <a:r>
              <a:rPr sz="1200" b="1" i="0">
                <a:solidFill>
                  <a:srgbClr val="C66E4E"/>
                </a:solidFill>
              </a:rPr>
              <a:t>‏تحقق</a:t>
            </a:r>
          </a:p>
        </p:txBody>
      </p:sp>
    </p:spTree>
    <p:extLst>
      <p:ext uri="{BB962C8B-B14F-4D97-AF65-F5344CB8AC3E}">
        <p14:creationId xmlns:p14="http://schemas.microsoft.com/office/powerpoint/2010/main" val="732501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2026-07-16T19:46:36.4500000Z</dcterms:created>
  <dcterms:modified xsi:type="dcterms:W3CDTF">2026-07-16T19:46:36.4500000Z</dcterms:modified>
</coreProperties>
</file>